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62_A89D09C0.xml" ContentType="application/vnd.ms-powerpoint.comments+xml"/>
  <Override PartName="/ppt/comments/modernComment_171_CA9C389B.xml" ContentType="application/vnd.ms-powerpoint.comments+xml"/>
  <Override PartName="/ppt/comments/modernComment_167_7F829001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9"/>
  </p:handoutMasterIdLst>
  <p:sldIdLst>
    <p:sldId id="302" r:id="rId2"/>
    <p:sldId id="348" r:id="rId3"/>
    <p:sldId id="329" r:id="rId4"/>
    <p:sldId id="353" r:id="rId5"/>
    <p:sldId id="366" r:id="rId6"/>
    <p:sldId id="368" r:id="rId7"/>
    <p:sldId id="349" r:id="rId8"/>
    <p:sldId id="354" r:id="rId9"/>
    <p:sldId id="370" r:id="rId10"/>
    <p:sldId id="371" r:id="rId11"/>
    <p:sldId id="372" r:id="rId12"/>
    <p:sldId id="373" r:id="rId13"/>
    <p:sldId id="374" r:id="rId14"/>
    <p:sldId id="375" r:id="rId15"/>
    <p:sldId id="376" r:id="rId16"/>
    <p:sldId id="365" r:id="rId17"/>
    <p:sldId id="350" r:id="rId18"/>
    <p:sldId id="369" r:id="rId19"/>
    <p:sldId id="351" r:id="rId20"/>
    <p:sldId id="364" r:id="rId21"/>
    <p:sldId id="358" r:id="rId22"/>
    <p:sldId id="359" r:id="rId23"/>
    <p:sldId id="360" r:id="rId24"/>
    <p:sldId id="361" r:id="rId25"/>
    <p:sldId id="352" r:id="rId26"/>
    <p:sldId id="357" r:id="rId27"/>
    <p:sldId id="346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D9494DC-FFB2-A270-4801-06C3FDC2EF07}" name="truong_trung_hieu.pham@365h-brs.de" initials="tr" userId="S::truong_trung_hieu.pham@365h-brs.de::f27485a8-fde4-4abe-a1e8-c948350f68c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6ACECF-B2F8-46AB-87AC-932EC7005EF3}" v="237" dt="2026-01-18T19:41:56.357"/>
    <p1510:client id="{1A584C73-0FAF-D2CD-8C35-39ABF30ACDE6}" v="7" dt="2026-01-18T20:31:21.030"/>
    <p1510:client id="{3506A290-9E1B-0880-4358-42E4F08AA1AC}" v="86" dt="2026-01-18T09:32:14.217"/>
    <p1510:client id="{515A7A11-68A9-B55C-A45B-C83A7CF8C6F5}" v="19" dt="2026-01-18T18:55:30.721"/>
    <p1510:client id="{61197A9C-5288-DFA4-A023-DA6A00D2D1CC}" v="194" dt="2026-01-18T04:33:03.902"/>
    <p1510:client id="{8651BF83-6870-7644-45D9-A982CFAF8097}" v="3" dt="2026-01-19T08:02:32.299"/>
    <p1510:client id="{A6A3D4BE-A437-AEA5-0730-E8AADBB55D71}" v="2" dt="2026-01-19T04:06:56.506"/>
    <p1510:client id="{AD4245CA-1460-127F-033A-CBA720277DBF}" v="135" dt="2026-01-19T05:53:48.787"/>
    <p1510:client id="{F32FC025-C457-A59F-5349-4516D0B280B3}" v="8" dt="2026-01-18T18:39:29.4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7" d="100"/>
          <a:sy n="87" d="100"/>
        </p:scale>
        <p:origin x="6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omments/modernComment_162_A89D09C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A62B6C5-238B-498E-BD78-216B56AA9A54}" authorId="{0D9494DC-FFB2-A270-4801-06C3FDC2EF07}" created="2026-01-17T13:44:57.46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28863936" sldId="354"/>
      <ac:picMk id="17" creationId="{5A4ED1C4-EB44-96EC-D67B-4E437ADBED29}"/>
    </ac:deMkLst>
    <p188:txBody>
      <a:bodyPr/>
      <a:lstStyle/>
      <a:p>
        <a:r>
          <a:rPr lang="de-DE"/>
          <a:t>Karten aus Kartendeck "werfen" und 2-mal?</a:t>
        </a:r>
      </a:p>
    </p188:txBody>
  </p188:cm>
</p188:cmLst>
</file>

<file path=ppt/comments/modernComment_167_7F82900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6BB63B8-8C9D-462A-8A10-C5D309B9C9D6}" authorId="{0D9494DC-FFB2-A270-4801-06C3FDC2EF07}" created="2026-01-17T13:49:26.12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39262977" sldId="359"/>
      <ac:spMk id="3" creationId="{109E8A59-AF1F-F3A2-644D-6BED7ECDA4FF}"/>
      <ac:txMk cp="7" len="14">
        <ac:context len="122" hash="4424433"/>
      </ac:txMk>
    </ac:txMkLst>
    <p188:pos x="4157708" y="192349"/>
    <p188:txBody>
      <a:bodyPr/>
      <a:lstStyle/>
      <a:p>
        <a:r>
          <a:rPr lang="de-DE"/>
          <a:t>Abgleich mit UML: Speziellekarte oder SpezielleKarte</a:t>
        </a:r>
      </a:p>
    </p188:txBody>
  </p188:cm>
</p188:cmLst>
</file>

<file path=ppt/comments/modernComment_171_CA9C389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56CF17-A07C-498F-9E75-50768122359C}" authorId="{0D9494DC-FFB2-A270-4801-06C3FDC2EF07}" created="2026-01-17T13:48:13.6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99235739" sldId="369"/>
      <ac:picMk id="7" creationId="{8D1E338A-0AE3-8C57-BE82-2900ECBD1CD6}"/>
    </ac:deMkLst>
    <p188:txBody>
      <a:bodyPr/>
      <a:lstStyle/>
      <a:p>
        <a:r>
          <a:rPr lang="de-DE"/>
          <a:t>uneinheitliche Benennung
- UNO mit Strich oder ohne?
- Deklaration von farbe, wert und "effekt"Typ?
- Attribute in Kartendeck sollte auch "stapel" heißen
- ...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E618C2B-B548-53A0-808E-5B4097EA6F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E81134C-6BC3-3442-9400-D9D0BAF936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B4897-0C05-448B-89D8-75A74A23ADA4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C3FEFA-EA81-AB28-0BE0-D82ED55283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173AE1E-030B-CF35-82D9-FDEC27DA8D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E304D-8217-43BF-9E02-A0F9B1C18F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548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981D6C-963D-8A90-6272-AA1CAE307A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9F0BA26-8334-BF5C-15BD-0D6EABEC3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de-D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8EF9DC-8905-DE4A-8C96-E96900034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2209-E06B-43E5-9207-41A4C27B0FB1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DB0297-3FE2-161A-28F8-EE72B6E8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A7F002-6DA5-8F6A-38F6-85AC60E1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D513-2CD7-4731-8C03-172A8DCE4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5774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3789CE-6287-82CC-B8FD-435B6BAE8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8B393-883D-866A-0E67-0EDAB66A2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9B63CE-2B65-4014-AAF6-7AB8E19E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2209-E06B-43E5-9207-41A4C27B0FB1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F4938D-41E2-49C3-3DEB-21F630748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B147D8-7329-76AF-F897-1C70AF2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D513-2CD7-4731-8C03-172A8DCE4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0939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50D506-017A-9E1F-4A6E-B410B9F76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524440-F3FE-4E91-589F-AA0922955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939F19-EF1C-7558-98E1-8660AB7AF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2209-E06B-43E5-9207-41A4C27B0FB1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2DFB76-9389-646E-0A0E-3A89907DA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A125F2-FA81-0441-2322-EDAECE2E5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D513-2CD7-4731-8C03-172A8DCE4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21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3DA735-AB30-B91B-5E89-E942BFC3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C63ED0-832E-5A11-0C85-71CF84FED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3E4270B-C83A-7EE9-EDE2-3C6229E86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738C64-1E0C-06DE-5D9A-BE591CC0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2209-E06B-43E5-9207-41A4C27B0FB1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7A0455-C959-7541-9498-6D153BE7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111362-9511-4079-093F-A94BD5FB7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D513-2CD7-4731-8C03-172A8DCE4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4381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128DE9-7B79-365D-BEF8-78E10780B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F38CAC-BE01-CFC5-E278-C8927E380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54633E-7397-F3D6-F184-D17A87536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7C038FF-EEF1-44D4-3BBF-5514D46B86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042DDD3-900E-853A-D3B3-FB758E264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F7CE8C3-647B-8163-830A-370AE0C1C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2209-E06B-43E5-9207-41A4C27B0FB1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FEFCEF-023B-3082-F140-64C8169F2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59487AC-99D7-CDA5-33A2-BFFF5A963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D513-2CD7-4731-8C03-172A8DCE4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73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7F6C2C-7395-69C9-628A-4B5989DBB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61D4CE-B3F5-6ACA-B018-3E01C8950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2209-E06B-43E5-9207-41A4C27B0FB1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F305C0D-917D-5731-103B-2056554EA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3C3F12-2FE8-F8FF-8C25-BE47547E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D513-2CD7-4731-8C03-172A8DCE4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67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B815594-B94E-6744-D8FF-765E1BF27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2209-E06B-43E5-9207-41A4C27B0FB1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6865E60-27E6-3165-FCFD-D43B9757B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A7835B-8A12-0287-0BF7-299BB11AA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D513-2CD7-4731-8C03-172A8DCE4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55B98B-DF8A-9B35-3D0D-4B0A700BC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2F7A0A-AD61-93DA-FB67-039AAE241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5A3A654-7C3B-45B0-78A2-16DD4DBF5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90A9478-AF9B-EAB9-527A-60E22E9C4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2209-E06B-43E5-9207-41A4C27B0FB1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72E94B0-9B2C-C870-FA00-ED5CADC01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D9A0E3-395B-30DB-39BD-AB7867B2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D513-2CD7-4731-8C03-172A8DCE4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546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9E476D-5305-9BF4-13D2-E19B4B455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95F5953-8270-B417-8474-3512B6EA47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C35F75-E305-ED08-BFA5-73BEC118D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277306-6DE0-1E84-9719-24FCA43B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2209-E06B-43E5-9207-41A4C27B0FB1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49E45D-0881-880B-D2E6-17EF6E924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59B414-97E3-842D-2F9C-DFD03E54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D513-2CD7-4731-8C03-172A8DCE4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6525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BA7E30-9C51-8F27-4B02-A654E3A83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DFD61B-5056-E22C-3172-DB8C802B9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E36CBA-A8B0-2F71-DA8A-302808AF4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2209-E06B-43E5-9207-41A4C27B0FB1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A968B6-0BA5-77E5-5E52-03F11C0E0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B9E432-5118-58D7-9C0F-C513A3E5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D513-2CD7-4731-8C03-172A8DCE43A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F7C351C9-AB9A-FE40-FF81-859C830FAF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226" y="470030"/>
            <a:ext cx="4132684" cy="743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684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554DF1-40E2-071C-9194-F577034E9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5CE7793-108F-EF05-615F-A10A36DEF1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4D10BF-049B-5DAA-B1D6-709F4E154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2209-E06B-43E5-9207-41A4C27B0FB1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300028-93E8-CF29-1B39-919D4D719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0CC223-872B-126D-7C0A-9C0F25396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D513-2CD7-4731-8C03-172A8DCE4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73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B0BA2A4-4ABB-FF51-19A0-0496A7057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4B5CA2-BB6A-5F08-DC85-C566272D4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B97A0B-E53D-910D-F112-D05178315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F4352209-E06B-43E5-9207-41A4C27B0FB1}" type="datetimeFigureOut">
              <a:rPr lang="de-DE" smtClean="0"/>
              <a:pPr/>
              <a:t>19.01.2026</a:t>
            </a:fld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0331F8-8902-D4B1-AA33-42B8957874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DA4294-DC02-9F77-E407-A3116CC2EF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779D513-2CD7-4731-8C03-172A8DCE43AD}" type="slidenum">
              <a:rPr lang="de-DE" smtClean="0"/>
              <a:pPr/>
              <a:t>‹Nr.›</a:t>
            </a:fld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F8BF751-942F-BA77-ADF2-C8D6385829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766" y="365125"/>
            <a:ext cx="2857034" cy="514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6482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62_A89D09C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171_CA9C389B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microsoft.com/office/2018/10/relationships/comments" Target="../comments/modernComment_167_7F82900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8E423-2021-56CA-F9B6-3A231823C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195A71-9CA8-DC5D-5C96-19337010C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7286" y="2425474"/>
            <a:ext cx="9144000" cy="1277846"/>
          </a:xfrm>
        </p:spPr>
        <p:txBody>
          <a:bodyPr>
            <a:normAutofit/>
          </a:bodyPr>
          <a:lstStyle/>
          <a:p>
            <a:r>
              <a:rPr lang="de-DE" dirty="0">
                <a:latin typeface="Times New Roman"/>
                <a:cs typeface="Times New Roman"/>
              </a:rPr>
              <a:t>UNO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0481329-AFB5-0064-F4EB-6388024FAA31}"/>
              </a:ext>
            </a:extLst>
          </p:cNvPr>
          <p:cNvSpPr txBox="1"/>
          <p:nvPr/>
        </p:nvSpPr>
        <p:spPr>
          <a:xfrm>
            <a:off x="2901988" y="4988134"/>
            <a:ext cx="61270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Ze</a:t>
            </a:r>
            <a:r>
              <a:rPr lang="de-DE" dirty="0"/>
              <a:t> Gamers</a:t>
            </a:r>
          </a:p>
          <a:p>
            <a:endParaRPr lang="de-DE" dirty="0"/>
          </a:p>
          <a:p>
            <a:r>
              <a:rPr lang="de-DE" dirty="0" err="1"/>
              <a:t>Hieu</a:t>
            </a:r>
            <a:r>
              <a:rPr lang="de-DE" dirty="0"/>
              <a:t> Pham, Moritz Breuer, Lines </a:t>
            </a:r>
            <a:r>
              <a:rPr lang="de-DE" dirty="0" err="1"/>
              <a:t>Tankam</a:t>
            </a:r>
            <a:r>
              <a:rPr lang="de-DE" dirty="0"/>
              <a:t>, </a:t>
            </a:r>
            <a:r>
              <a:rPr lang="de-DE" dirty="0" err="1"/>
              <a:t>Ursulle</a:t>
            </a:r>
            <a:r>
              <a:rPr lang="de-DE" dirty="0"/>
              <a:t> </a:t>
            </a:r>
            <a:r>
              <a:rPr lang="de-DE" dirty="0" err="1"/>
              <a:t>Pokam</a:t>
            </a:r>
            <a:r>
              <a:rPr lang="de-DE" dirty="0"/>
              <a:t>, KI</a:t>
            </a:r>
          </a:p>
        </p:txBody>
      </p:sp>
      <p:pic>
        <p:nvPicPr>
          <p:cNvPr id="1026" name="Picture 2" descr="Mattel Games UNO Kartenspiel für die Famile, Perfekt als Kinderspiel, Reisespiel oder Spiel für Erwachsene, für 2-10 Spieler, ab 7 Jahren, W2087">
            <a:extLst>
              <a:ext uri="{FF2B5EF4-FFF2-40B4-BE49-F238E27FC236}">
                <a16:creationId xmlns:a16="http://schemas.microsoft.com/office/drawing/2014/main" id="{A1B2CA48-42B8-5345-DCB1-8CF3A6673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462" y="885695"/>
            <a:ext cx="2921075" cy="435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3681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17F43D-258F-A4C7-444D-944D005A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Inhaltsverzeichnis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CFCA10-E488-0D94-5338-AF1275BD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>
                <a:latin typeface="Times New Roman"/>
                <a:cs typeface="Times New Roman"/>
              </a:rPr>
              <a:t>Spielabgrenzung</a:t>
            </a:r>
          </a:p>
          <a:p>
            <a:pPr marL="514350" indent="-514350">
              <a:buFont typeface="+mj-lt"/>
              <a:buAutoNum type="arabicPeriod"/>
            </a:pPr>
            <a:r>
              <a:rPr lang="de-DE">
                <a:latin typeface="Times New Roman"/>
                <a:cs typeface="Times New Roman"/>
              </a:rPr>
              <a:t>Spielablauf </a:t>
            </a:r>
          </a:p>
          <a:p>
            <a:pPr marL="514350" indent="-514350">
              <a:buFont typeface="+mj-lt"/>
              <a:buAutoNum type="arabicPeriod"/>
            </a:pPr>
            <a:r>
              <a:rPr lang="de-DE">
                <a:latin typeface="Times New Roman"/>
                <a:cs typeface="Times New Roman"/>
              </a:rPr>
              <a:t>UML-Diagramm</a:t>
            </a:r>
          </a:p>
          <a:p>
            <a:pPr marL="514350" indent="-514350">
              <a:buFont typeface="+mj-lt"/>
              <a:buAutoNum type="arabicPeriod"/>
            </a:pPr>
            <a:r>
              <a:rPr lang="de-DE">
                <a:latin typeface="Times New Roman"/>
                <a:cs typeface="Times New Roman"/>
              </a:rPr>
              <a:t>Anwendung der OOP in Programmierung</a:t>
            </a:r>
          </a:p>
          <a:p>
            <a:pPr marL="514350" indent="-514350">
              <a:buFont typeface="+mj-lt"/>
              <a:buAutoNum type="arabicPeriod"/>
            </a:pPr>
            <a:r>
              <a:rPr lang="de-DE">
                <a:latin typeface="Times New Roman"/>
                <a:cs typeface="Times New Roman"/>
              </a:rPr>
              <a:t>Ausblick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9603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60EB6-2B44-D905-B1DD-0556A0C1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0B8BDC-B194-E855-7DC7-025074EEE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7382"/>
            <a:ext cx="9144000" cy="923235"/>
          </a:xfrm>
        </p:spPr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Spielabgrenzung</a:t>
            </a:r>
          </a:p>
        </p:txBody>
      </p:sp>
    </p:spTree>
    <p:extLst>
      <p:ext uri="{BB962C8B-B14F-4D97-AF65-F5344CB8AC3E}">
        <p14:creationId xmlns:p14="http://schemas.microsoft.com/office/powerpoint/2010/main" val="3263631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A24C5-EC04-4C69-A457-64E4B004A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nhaltsplatzhalter 3" descr="UNO Cards Deck">
            <a:extLst>
              <a:ext uri="{FF2B5EF4-FFF2-40B4-BE49-F238E27FC236}">
                <a16:creationId xmlns:a16="http://schemas.microsoft.com/office/drawing/2014/main" id="{01921157-A2E2-A347-FECE-80AB6E438C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583" r="14376" b="87471"/>
          <a:stretch>
            <a:fillRect/>
          </a:stretch>
        </p:blipFill>
        <p:spPr>
          <a:xfrm>
            <a:off x="6578634" y="4151760"/>
            <a:ext cx="1534144" cy="2341115"/>
          </a:xfrm>
          <a:prstGeom prst="rect">
            <a:avLst/>
          </a:prstGeom>
          <a:ln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CBDFD00-00F3-A7B7-7CFA-184B8F03B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Spielabgrenzung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FB4ABE-0A6E-0F3E-A21F-3AA8142CB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>
                <a:latin typeface="Times New Roman"/>
                <a:cs typeface="Times New Roman"/>
              </a:rPr>
              <a:t>Nur 2 Menschspieler, 1 gegen 1.</a:t>
            </a:r>
          </a:p>
          <a:p>
            <a:endParaRPr lang="de-DE">
              <a:latin typeface="Times New Roman"/>
              <a:cs typeface="Times New Roman"/>
            </a:endParaRPr>
          </a:p>
          <a:p>
            <a:endParaRPr lang="de-DE">
              <a:latin typeface="Times New Roman"/>
              <a:cs typeface="Times New Roman"/>
            </a:endParaRPr>
          </a:p>
          <a:p>
            <a:endParaRPr lang="de-DE">
              <a:latin typeface="Times New Roman"/>
              <a:cs typeface="Times New Roman"/>
            </a:endParaRPr>
          </a:p>
          <a:p>
            <a:endParaRPr lang="de-DE">
              <a:latin typeface="Times New Roman"/>
              <a:cs typeface="Times New Roman"/>
            </a:endParaRPr>
          </a:p>
          <a:p>
            <a:endParaRPr lang="de-DE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de-DE">
                <a:latin typeface="Times New Roman"/>
                <a:cs typeface="Times New Roman"/>
                <a:sym typeface="Wingdings" panose="05000000000000000000" pitchFamily="2" charset="2"/>
              </a:rPr>
              <a:t> Richtungswechsel = Aussetzen</a:t>
            </a:r>
            <a:endParaRPr lang="de-DE">
              <a:latin typeface="Times New Roman"/>
              <a:cs typeface="Times New Roman"/>
            </a:endParaRPr>
          </a:p>
          <a:p>
            <a:endParaRPr lang="de-DE"/>
          </a:p>
        </p:txBody>
      </p:sp>
      <p:pic>
        <p:nvPicPr>
          <p:cNvPr id="4" name="Grafik 3" descr="Ein Bild, das Entwurf, Lineart, Clipart, Darstellung enthält.&#10;&#10;KI-generierte Inhalte können fehlerhaft sein.">
            <a:extLst>
              <a:ext uri="{FF2B5EF4-FFF2-40B4-BE49-F238E27FC236}">
                <a16:creationId xmlns:a16="http://schemas.microsoft.com/office/drawing/2014/main" id="{318CE1C0-C8D4-1157-8875-9FF193569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007" y="1383668"/>
            <a:ext cx="4464359" cy="2314912"/>
          </a:xfrm>
          <a:prstGeom prst="rect">
            <a:avLst/>
          </a:prstGeom>
        </p:spPr>
      </p:pic>
      <p:pic>
        <p:nvPicPr>
          <p:cNvPr id="15" name="Inhaltsplatzhalter 3" descr="UNO Cards Deck">
            <a:extLst>
              <a:ext uri="{FF2B5EF4-FFF2-40B4-BE49-F238E27FC236}">
                <a16:creationId xmlns:a16="http://schemas.microsoft.com/office/drawing/2014/main" id="{2E117CE9-9A66-498A-8593-974378AC5F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533" r="21427" b="87471"/>
          <a:stretch>
            <a:fillRect/>
          </a:stretch>
        </p:blipFill>
        <p:spPr>
          <a:xfrm>
            <a:off x="8767455" y="4151760"/>
            <a:ext cx="1534144" cy="2341115"/>
          </a:xfrm>
          <a:prstGeom prst="rect">
            <a:avLst/>
          </a:prstGeom>
          <a:ln>
            <a:solidFill>
              <a:schemeClr val="tx1"/>
            </a:solidFill>
          </a:ln>
          <a:effectLst>
            <a:softEdge rad="112500"/>
          </a:effectLst>
        </p:spPr>
      </p:pic>
      <p:sp>
        <p:nvSpPr>
          <p:cNvPr id="17" name="Gleich 16">
            <a:extLst>
              <a:ext uri="{FF2B5EF4-FFF2-40B4-BE49-F238E27FC236}">
                <a16:creationId xmlns:a16="http://schemas.microsoft.com/office/drawing/2014/main" id="{C7038F1E-1071-5A7C-2226-775E963BBE5F}"/>
              </a:ext>
            </a:extLst>
          </p:cNvPr>
          <p:cNvSpPr/>
          <p:nvPr/>
        </p:nvSpPr>
        <p:spPr>
          <a:xfrm>
            <a:off x="8112778" y="4979449"/>
            <a:ext cx="654677" cy="654677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637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50BB65-8192-369B-3149-DC7A0FE8B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Spielabgrenzung</a:t>
            </a:r>
          </a:p>
        </p:txBody>
      </p:sp>
      <p:pic>
        <p:nvPicPr>
          <p:cNvPr id="4" name="Inhaltsplatzhalter 3" descr="UNO Cards Deck">
            <a:extLst>
              <a:ext uri="{FF2B5EF4-FFF2-40B4-BE49-F238E27FC236}">
                <a16:creationId xmlns:a16="http://schemas.microsoft.com/office/drawing/2014/main" id="{25691E31-0475-A149-242A-3A60DADDA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9839" y="1825625"/>
            <a:ext cx="5074446" cy="435133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F31C695-D584-CD74-C749-437CA96C8FDB}"/>
              </a:ext>
            </a:extLst>
          </p:cNvPr>
          <p:cNvSpPr txBox="1"/>
          <p:nvPr/>
        </p:nvSpPr>
        <p:spPr>
          <a:xfrm>
            <a:off x="845678" y="1825625"/>
            <a:ext cx="525172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de-DE" sz="2800">
                <a:latin typeface="Times New Roman"/>
                <a:cs typeface="Times New Roman"/>
              </a:rPr>
              <a:t>Es gibt </a:t>
            </a:r>
          </a:p>
          <a:p>
            <a:pPr marL="914400" lvl="1" indent="-457200">
              <a:buFont typeface="Arial"/>
              <a:buChar char="•"/>
            </a:pPr>
            <a:r>
              <a:rPr lang="de-DE" sz="2800">
                <a:latin typeface="Times New Roman"/>
                <a:cs typeface="Times New Roman"/>
              </a:rPr>
              <a:t>56 von 108 Karten.</a:t>
            </a:r>
            <a:endParaRPr lang="de-DE">
              <a:latin typeface="Aptos" panose="02110004020202020204"/>
              <a:cs typeface="Times New Roman"/>
            </a:endParaRPr>
          </a:p>
          <a:p>
            <a:pPr marL="914400" lvl="1" indent="-457200">
              <a:buFont typeface="Arial"/>
              <a:buChar char="•"/>
            </a:pPr>
            <a:r>
              <a:rPr lang="de-DE" sz="2800">
                <a:latin typeface="Times New Roman"/>
                <a:cs typeface="Times New Roman"/>
              </a:rPr>
              <a:t>Kein „Plus 4 Joker“ </a:t>
            </a:r>
          </a:p>
          <a:p>
            <a:endParaRPr lang="de-DE" sz="280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de-DE" sz="2800">
                <a:latin typeface="Times New Roman"/>
                <a:cs typeface="Times New Roman"/>
              </a:rPr>
              <a:t>„Farbenwechsel“, also „Joker“</a:t>
            </a:r>
            <a:r>
              <a:rPr lang="de-DE">
                <a:latin typeface="Aptos" panose="02110004020202020204"/>
                <a:cs typeface="Times New Roman"/>
              </a:rPr>
              <a:t> </a:t>
            </a:r>
            <a:r>
              <a:rPr lang="de-DE" sz="2800">
                <a:latin typeface="Times New Roman"/>
                <a:cs typeface="Times New Roman"/>
              </a:rPr>
              <a:t>kommt 4-mal vor</a:t>
            </a:r>
            <a:endParaRPr lang="de-DE">
              <a:latin typeface="Aptos" panose="02110004020202020204"/>
              <a:cs typeface="Times New Roman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E0A52CF-48CE-7BCC-3658-B73FF9FE5917}"/>
              </a:ext>
            </a:extLst>
          </p:cNvPr>
          <p:cNvGrpSpPr/>
          <p:nvPr/>
        </p:nvGrpSpPr>
        <p:grpSpPr>
          <a:xfrm>
            <a:off x="6662057" y="4015110"/>
            <a:ext cx="4691723" cy="2161853"/>
            <a:chOff x="6662057" y="4015110"/>
            <a:chExt cx="4324493" cy="2161853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30FABBE9-DA45-59D5-3912-8890FC0D1748}"/>
                </a:ext>
              </a:extLst>
            </p:cNvPr>
            <p:cNvCxnSpPr/>
            <p:nvPr/>
          </p:nvCxnSpPr>
          <p:spPr>
            <a:xfrm>
              <a:off x="6673755" y="4026090"/>
              <a:ext cx="4312693" cy="2150873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09FFEA4A-AF14-585A-1D8A-9B2DFC31AD7A}"/>
                </a:ext>
              </a:extLst>
            </p:cNvPr>
            <p:cNvCxnSpPr/>
            <p:nvPr/>
          </p:nvCxnSpPr>
          <p:spPr>
            <a:xfrm flipV="1">
              <a:off x="6682683" y="4015110"/>
              <a:ext cx="4296992" cy="2161853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C5427224-6730-46FB-9C48-2B846448E24D}"/>
                </a:ext>
              </a:extLst>
            </p:cNvPr>
            <p:cNvSpPr/>
            <p:nvPr/>
          </p:nvSpPr>
          <p:spPr>
            <a:xfrm>
              <a:off x="6662057" y="4028860"/>
              <a:ext cx="4324493" cy="2148103"/>
            </a:xfrm>
            <a:prstGeom prst="rect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865573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D4338-D1E9-0FE9-EFFD-8D62E3A9A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ADFF8C-04AD-DE7D-CC94-C36EA558A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Spielabgrenzung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4519B4-E29A-DB05-53CB-44DCCA049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>
                <a:latin typeface="Times New Roman"/>
                <a:cs typeface="Times New Roman"/>
              </a:rPr>
              <a:t>Automatisches Sagen von „UNO“ bei Hand gleich eins (1x Karte)</a:t>
            </a:r>
            <a:endParaRPr lang="de-DE"/>
          </a:p>
          <a:p>
            <a:r>
              <a:rPr lang="de-DE">
                <a:latin typeface="Times New Roman"/>
                <a:cs typeface="Times New Roman"/>
              </a:rPr>
              <a:t>Kein Kartenausblenden</a:t>
            </a:r>
            <a:endParaRPr lang="de-DE"/>
          </a:p>
        </p:txBody>
      </p:sp>
      <p:pic>
        <p:nvPicPr>
          <p:cNvPr id="1026" name="Picture 2" descr="UNO Online - Play UNO Online on Crazy Games">
            <a:extLst>
              <a:ext uri="{FF2B5EF4-FFF2-40B4-BE49-F238E27FC236}">
                <a16:creationId xmlns:a16="http://schemas.microsoft.com/office/drawing/2014/main" id="{D74A5B20-4344-ECD5-B07E-35547F6A5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401" y="3140869"/>
            <a:ext cx="4923396" cy="303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894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F8CF-DC23-3887-5DFB-6A04AFC45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DD2EEC-A0AF-DA72-A71B-BA3DF851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7382"/>
            <a:ext cx="9144000" cy="923235"/>
          </a:xfrm>
        </p:spPr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Spielablauf</a:t>
            </a:r>
          </a:p>
        </p:txBody>
      </p:sp>
    </p:spTree>
    <p:extLst>
      <p:ext uri="{BB962C8B-B14F-4D97-AF65-F5344CB8AC3E}">
        <p14:creationId xmlns:p14="http://schemas.microsoft.com/office/powerpoint/2010/main" val="3360624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5764B-64C8-5A5B-1CEE-56B02327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A8D172-9CCA-01FD-D0E9-1D52B028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Spielablauf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4CA9DF70-57D3-F4BB-1511-17927C73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de-DE"/>
          </a:p>
          <a:p>
            <a:endParaRPr lang="de-DE"/>
          </a:p>
        </p:txBody>
      </p:sp>
      <p:pic>
        <p:nvPicPr>
          <p:cNvPr id="3" name="Grafik 2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68AE533C-1CF4-BBCD-DBBA-1087B0599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977" y="1120588"/>
            <a:ext cx="7191311" cy="5367619"/>
          </a:xfrm>
          <a:prstGeom prst="rect">
            <a:avLst/>
          </a:prstGeom>
        </p:spPr>
      </p:pic>
      <p:pic>
        <p:nvPicPr>
          <p:cNvPr id="5" name="Content Placeholder 3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655B2868-2D07-2C7A-BB40-4DC48E947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11" y="2354555"/>
            <a:ext cx="2819400" cy="3276600"/>
          </a:xfrm>
          <a:prstGeom prst="rect">
            <a:avLst/>
          </a:prstGeom>
        </p:spPr>
      </p:pic>
      <p:pic>
        <p:nvPicPr>
          <p:cNvPr id="6" name="Grafik 5" descr="Ein Bild, das Kreis, Farbigkeit enthält.&#10;&#10;KI-generierte Inhalte können fehlerhaft sein.">
            <a:extLst>
              <a:ext uri="{FF2B5EF4-FFF2-40B4-BE49-F238E27FC236}">
                <a16:creationId xmlns:a16="http://schemas.microsoft.com/office/drawing/2014/main" id="{AB3E4EB8-115B-DD03-5523-C507D1F13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270062" y="2233893"/>
            <a:ext cx="2474259" cy="586067"/>
          </a:xfrm>
          <a:prstGeom prst="rect">
            <a:avLst/>
          </a:prstGeom>
        </p:spPr>
      </p:pic>
      <p:pic>
        <p:nvPicPr>
          <p:cNvPr id="7" name="Grafik 6" descr="Ein Bild, das Symbol, Grafiken, Reihe, Schrift enthält.&#10;&#10;KI-generierte Inhalte können fehlerhaft sein.">
            <a:extLst>
              <a:ext uri="{FF2B5EF4-FFF2-40B4-BE49-F238E27FC236}">
                <a16:creationId xmlns:a16="http://schemas.microsoft.com/office/drawing/2014/main" id="{9B98DDB1-0D61-06BB-E7A3-62818BE147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10398497" y="1923490"/>
            <a:ext cx="527798" cy="19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86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1534B-95AA-CFFB-A2BE-29B46D500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66A32E-5C98-A919-B241-27CF4641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Spielablauf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964E207-8A11-ADE8-63BB-13E2962F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de-DE"/>
          </a:p>
          <a:p>
            <a:endParaRPr lang="de-DE"/>
          </a:p>
        </p:txBody>
      </p:sp>
      <p:pic>
        <p:nvPicPr>
          <p:cNvPr id="3" name="Grafik 2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286534FD-4BF4-8412-C201-E20C4197E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977" y="1120588"/>
            <a:ext cx="7191311" cy="5367619"/>
          </a:xfrm>
          <a:prstGeom prst="rect">
            <a:avLst/>
          </a:prstGeom>
        </p:spPr>
      </p:pic>
      <p:pic>
        <p:nvPicPr>
          <p:cNvPr id="5" name="Content Placeholder 3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6A71C588-6F0C-8F77-893C-3EA971539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11" y="2354555"/>
            <a:ext cx="2819400" cy="3276600"/>
          </a:xfrm>
          <a:prstGeom prst="rect">
            <a:avLst/>
          </a:prstGeom>
        </p:spPr>
      </p:pic>
      <p:pic>
        <p:nvPicPr>
          <p:cNvPr id="8" name="Grafik 7" descr="Ein Bild, das Symbol, Grafiken, Reihe, Schrift enthält.&#10;&#10;KI-generierte Inhalte können fehlerhaft sein.">
            <a:extLst>
              <a:ext uri="{FF2B5EF4-FFF2-40B4-BE49-F238E27FC236}">
                <a16:creationId xmlns:a16="http://schemas.microsoft.com/office/drawing/2014/main" id="{8F2EED0A-748C-D295-8902-E796BB701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0416426" y="2456889"/>
            <a:ext cx="527798" cy="19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436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1DDF5-1F30-1336-4939-E892660D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4A2AD8-BB62-4E79-DBDD-11655D98C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Spielablauf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4267ACF3-2043-9ED8-72E0-F2B5677EA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de-DE"/>
          </a:p>
          <a:p>
            <a:endParaRPr lang="de-DE"/>
          </a:p>
        </p:txBody>
      </p:sp>
      <p:pic>
        <p:nvPicPr>
          <p:cNvPr id="3" name="Grafik 2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AC92D79A-F41F-E1EF-30B4-477BC03EB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977" y="1120588"/>
            <a:ext cx="7191311" cy="5367619"/>
          </a:xfrm>
          <a:prstGeom prst="rect">
            <a:avLst/>
          </a:prstGeom>
        </p:spPr>
      </p:pic>
      <p:pic>
        <p:nvPicPr>
          <p:cNvPr id="5" name="Content Placeholder 3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8CAF5161-6F43-0FDC-6B71-94045AC87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11" y="2354555"/>
            <a:ext cx="2819400" cy="3276600"/>
          </a:xfrm>
          <a:prstGeom prst="rect">
            <a:avLst/>
          </a:prstGeom>
        </p:spPr>
      </p:pic>
      <p:pic>
        <p:nvPicPr>
          <p:cNvPr id="8" name="Grafik 7" descr="Ein Bild, das Symbol, Grafiken, Reihe, Schrift enthält.&#10;&#10;KI-generierte Inhalte können fehlerhaft sein.">
            <a:extLst>
              <a:ext uri="{FF2B5EF4-FFF2-40B4-BE49-F238E27FC236}">
                <a16:creationId xmlns:a16="http://schemas.microsoft.com/office/drawing/2014/main" id="{E5565D85-E615-19BE-32C3-9AA4A211D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0416426" y="3005977"/>
            <a:ext cx="527798" cy="198344"/>
          </a:xfrm>
          <a:prstGeom prst="rect">
            <a:avLst/>
          </a:prstGeom>
        </p:spPr>
      </p:pic>
      <p:pic>
        <p:nvPicPr>
          <p:cNvPr id="6" name="Grafik 5" descr="Ein Bild, das Kreis, Farbigkeit enthält.&#10;&#10;KI-generierte Inhalte können fehlerhaft sein.">
            <a:extLst>
              <a:ext uri="{FF2B5EF4-FFF2-40B4-BE49-F238E27FC236}">
                <a16:creationId xmlns:a16="http://schemas.microsoft.com/office/drawing/2014/main" id="{EAFEF3E8-BD32-089D-59ED-7B6B7F60E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539002" y="2883834"/>
            <a:ext cx="2115672" cy="274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54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733E2-550B-763E-EE10-BA92C19DC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64AD32-691C-18D8-5D4E-1F0BF234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Spielablauf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8A0D6796-1652-58E3-F090-4FD973810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de-DE"/>
          </a:p>
          <a:p>
            <a:endParaRPr lang="de-DE"/>
          </a:p>
        </p:txBody>
      </p:sp>
      <p:pic>
        <p:nvPicPr>
          <p:cNvPr id="3" name="Grafik 2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BA2539F7-D96D-40B3-7236-61E0B36D5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977" y="1120588"/>
            <a:ext cx="7191311" cy="5367619"/>
          </a:xfrm>
          <a:prstGeom prst="rect">
            <a:avLst/>
          </a:prstGeom>
        </p:spPr>
      </p:pic>
      <p:pic>
        <p:nvPicPr>
          <p:cNvPr id="5" name="Content Placeholder 3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107A9344-1C41-0DD7-CA98-719CE0DFE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11" y="2354555"/>
            <a:ext cx="2819400" cy="3276600"/>
          </a:xfrm>
          <a:prstGeom prst="rect">
            <a:avLst/>
          </a:prstGeom>
        </p:spPr>
      </p:pic>
      <p:pic>
        <p:nvPicPr>
          <p:cNvPr id="8" name="Grafik 7" descr="Ein Bild, das Symbol, Grafiken, Reihe, Schrift enthält.&#10;&#10;KI-generierte Inhalte können fehlerhaft sein.">
            <a:extLst>
              <a:ext uri="{FF2B5EF4-FFF2-40B4-BE49-F238E27FC236}">
                <a16:creationId xmlns:a16="http://schemas.microsoft.com/office/drawing/2014/main" id="{3CF2758C-2248-066F-268C-3B94581CF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0416426" y="3487830"/>
            <a:ext cx="527798" cy="198344"/>
          </a:xfrm>
          <a:prstGeom prst="rect">
            <a:avLst/>
          </a:prstGeom>
        </p:spPr>
      </p:pic>
      <p:pic>
        <p:nvPicPr>
          <p:cNvPr id="6" name="Grafik 5" descr="Ein Bild, das Kreis, Farbigkeit enthält.&#10;&#10;KI-generierte Inhalte können fehlerhaft sein.">
            <a:extLst>
              <a:ext uri="{FF2B5EF4-FFF2-40B4-BE49-F238E27FC236}">
                <a16:creationId xmlns:a16="http://schemas.microsoft.com/office/drawing/2014/main" id="{2B2BC8CC-EB90-B2B2-3129-1BBB44921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539002" y="2883834"/>
            <a:ext cx="2115672" cy="274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19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9340F-F164-0931-8B40-CD031299A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1FE7ED69-D805-84C5-4619-BD22EF0A2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49" y="3339338"/>
            <a:ext cx="2823322" cy="13144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2455F09-C481-F9F0-EC0E-88121CCDD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Spielablauf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C9685C3-1148-966C-39CE-C5BC9E57B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de-DE"/>
          </a:p>
          <a:p>
            <a:endParaRPr lang="de-DE"/>
          </a:p>
        </p:txBody>
      </p:sp>
      <p:pic>
        <p:nvPicPr>
          <p:cNvPr id="3" name="Grafik 2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55728BA3-79AD-5444-8C6B-DDC0743BE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977" y="1120588"/>
            <a:ext cx="7191311" cy="5367619"/>
          </a:xfrm>
          <a:prstGeom prst="rect">
            <a:avLst/>
          </a:prstGeom>
        </p:spPr>
      </p:pic>
      <p:pic>
        <p:nvPicPr>
          <p:cNvPr id="8" name="Grafik 7" descr="Ein Bild, das Symbol, Grafiken, Reihe, Schrift enthält.&#10;&#10;KI-generierte Inhalte können fehlerhaft sein.">
            <a:extLst>
              <a:ext uri="{FF2B5EF4-FFF2-40B4-BE49-F238E27FC236}">
                <a16:creationId xmlns:a16="http://schemas.microsoft.com/office/drawing/2014/main" id="{C1C4F51C-B589-E9B9-1BA7-64B1F31E8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1032750" y="4126566"/>
            <a:ext cx="527798" cy="19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16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021C-39F8-B66A-97AE-465E70E84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DBA774B1-7DD3-8F8B-F716-6D245F65E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49" y="3339338"/>
            <a:ext cx="2823322" cy="13144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D599981-9491-B962-A0A5-01DFFBA24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Spielablauf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6FCE75BB-C9FE-478E-39C7-4D8A7D593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de-DE"/>
          </a:p>
          <a:p>
            <a:endParaRPr lang="de-DE"/>
          </a:p>
        </p:txBody>
      </p:sp>
      <p:pic>
        <p:nvPicPr>
          <p:cNvPr id="3" name="Grafik 2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4F208B4D-43DB-1766-9647-ECD32DA59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977" y="1120588"/>
            <a:ext cx="7191311" cy="5367619"/>
          </a:xfrm>
          <a:prstGeom prst="rect">
            <a:avLst/>
          </a:prstGeom>
        </p:spPr>
      </p:pic>
      <p:pic>
        <p:nvPicPr>
          <p:cNvPr id="8" name="Grafik 7" descr="Ein Bild, das Symbol, Grafiken, Reihe, Schrift enthält.&#10;&#10;KI-generierte Inhalte können fehlerhaft sein.">
            <a:extLst>
              <a:ext uri="{FF2B5EF4-FFF2-40B4-BE49-F238E27FC236}">
                <a16:creationId xmlns:a16="http://schemas.microsoft.com/office/drawing/2014/main" id="{A2B2D031-0F72-9033-D341-7781B5D3D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1032750" y="5482478"/>
            <a:ext cx="527798" cy="19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492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3D2B9-FD28-BC0F-E3D6-524E92D8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1A9D1E-C4DA-B2F1-3EE4-C9210F671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Spielablauf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F4790927-665D-6872-CFDC-982C90F26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de-DE"/>
          </a:p>
          <a:p>
            <a:endParaRPr lang="de-DE"/>
          </a:p>
        </p:txBody>
      </p:sp>
      <p:pic>
        <p:nvPicPr>
          <p:cNvPr id="3" name="Grafik 2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3DC14F4E-FD99-B87F-604A-674DBA375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977" y="1120588"/>
            <a:ext cx="7191311" cy="5367619"/>
          </a:xfrm>
          <a:prstGeom prst="rect">
            <a:avLst/>
          </a:prstGeom>
        </p:spPr>
      </p:pic>
      <p:pic>
        <p:nvPicPr>
          <p:cNvPr id="8" name="Grafik 7" descr="Ein Bild, das Symbol, Grafiken, Reihe, Schrift enthält.&#10;&#10;KI-generierte Inhalte können fehlerhaft sein.">
            <a:extLst>
              <a:ext uri="{FF2B5EF4-FFF2-40B4-BE49-F238E27FC236}">
                <a16:creationId xmlns:a16="http://schemas.microsoft.com/office/drawing/2014/main" id="{0C15D9DA-3536-022C-E0B1-8CDC091D9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1032750" y="5482478"/>
            <a:ext cx="527798" cy="198344"/>
          </a:xfrm>
          <a:prstGeom prst="rect">
            <a:avLst/>
          </a:prstGeom>
        </p:spPr>
      </p:pic>
      <p:pic>
        <p:nvPicPr>
          <p:cNvPr id="5" name="Content Placeholder 7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61B43D5F-881E-E447-8C2E-D335BEA4C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57" y="3427726"/>
            <a:ext cx="283845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902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5FA76-2C1D-3DCA-BC06-497BE5CA3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24B8D5-DFAA-B803-2034-FB2FE8AF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Spielablauf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F8BB7B03-4B03-392E-02CF-9DAA51FB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de-DE"/>
          </a:p>
          <a:p>
            <a:endParaRPr lang="de-DE"/>
          </a:p>
        </p:txBody>
      </p:sp>
      <p:pic>
        <p:nvPicPr>
          <p:cNvPr id="3" name="Grafik 2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6D5418B1-F228-444F-CC59-6B648E1CE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977" y="1120588"/>
            <a:ext cx="7191311" cy="5367619"/>
          </a:xfrm>
          <a:prstGeom prst="rect">
            <a:avLst/>
          </a:prstGeom>
        </p:spPr>
      </p:pic>
      <p:pic>
        <p:nvPicPr>
          <p:cNvPr id="8" name="Grafik 7" descr="Ein Bild, das Symbol, Grafiken, Reihe, Schrift enthält.&#10;&#10;KI-generierte Inhalte können fehlerhaft sein.">
            <a:extLst>
              <a:ext uri="{FF2B5EF4-FFF2-40B4-BE49-F238E27FC236}">
                <a16:creationId xmlns:a16="http://schemas.microsoft.com/office/drawing/2014/main" id="{CB889CFC-76C9-079B-0435-F45CC7192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1032750" y="6200304"/>
            <a:ext cx="527798" cy="198344"/>
          </a:xfrm>
          <a:prstGeom prst="rect">
            <a:avLst/>
          </a:prstGeom>
        </p:spPr>
      </p:pic>
      <p:pic>
        <p:nvPicPr>
          <p:cNvPr id="6" name="Picture 8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18DA8909-D425-0D08-06BE-268B21723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87" y="3323944"/>
            <a:ext cx="2771775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106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108E-7083-168D-6205-5FD9C5FF9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A5B1B0-A0BC-1971-CF2E-FD6066A26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Falsche Eingaben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8C2772-363F-9B23-8932-6B9C37CD3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239" y="2024471"/>
            <a:ext cx="2695575" cy="2800350"/>
          </a:xfrm>
          <a:prstGeom prst="rect">
            <a:avLst/>
          </a:prstGeom>
        </p:spPr>
      </p:pic>
      <p:pic>
        <p:nvPicPr>
          <p:cNvPr id="3" name="Grafik 2" descr="Ein Bild, das Text, 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6B3C60D7-BBFB-25A0-835A-40C54B7DB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5" y="3429281"/>
            <a:ext cx="4857750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55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21906-C1BE-7E0C-A3F6-93E90D97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4D928E-A1C8-CD1B-7BFD-FB212E23A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7382"/>
            <a:ext cx="9144000" cy="923235"/>
          </a:xfrm>
        </p:spPr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UML-Diagramm</a:t>
            </a:r>
          </a:p>
        </p:txBody>
      </p:sp>
    </p:spTree>
    <p:extLst>
      <p:ext uri="{BB962C8B-B14F-4D97-AF65-F5344CB8AC3E}">
        <p14:creationId xmlns:p14="http://schemas.microsoft.com/office/powerpoint/2010/main" val="4133545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0B48A6-393B-F718-F393-7FEDF8CCE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7B5F356-9F37-DE6C-0DD2-F53DA17D044C}"/>
              </a:ext>
            </a:extLst>
          </p:cNvPr>
          <p:cNvSpPr txBox="1"/>
          <p:nvPr/>
        </p:nvSpPr>
        <p:spPr>
          <a:xfrm>
            <a:off x="7270260" y="1711978"/>
            <a:ext cx="4087108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de-DE" sz="2000">
                <a:latin typeface="Times New Roman"/>
                <a:cs typeface="Times New Roman"/>
              </a:rPr>
              <a:t>7 Klassen + 1 Main:</a:t>
            </a:r>
          </a:p>
          <a:p>
            <a:pPr marL="914400" lvl="1" indent="-457200">
              <a:buFont typeface="Courier New"/>
              <a:buChar char="o"/>
            </a:pPr>
            <a:r>
              <a:rPr lang="de-DE" sz="2000">
                <a:latin typeface="Times New Roman"/>
                <a:cs typeface="Times New Roman"/>
              </a:rPr>
              <a:t>3 Stapelklassen</a:t>
            </a:r>
          </a:p>
          <a:p>
            <a:pPr marL="914400" lvl="1" indent="-457200">
              <a:buFont typeface="Courier New"/>
              <a:buChar char="o"/>
            </a:pPr>
            <a:r>
              <a:rPr lang="de-DE" sz="2000">
                <a:latin typeface="Times New Roman"/>
                <a:cs typeface="Times New Roman"/>
              </a:rPr>
              <a:t>2 Kartenklassen</a:t>
            </a:r>
          </a:p>
          <a:p>
            <a:pPr marL="914400" lvl="1" indent="-457200">
              <a:buFont typeface="Courier New"/>
              <a:buChar char="o"/>
            </a:pPr>
            <a:r>
              <a:rPr lang="de-DE" sz="2000">
                <a:latin typeface="Times New Roman"/>
                <a:cs typeface="Times New Roman"/>
              </a:rPr>
              <a:t>1 Spielerklasse</a:t>
            </a:r>
          </a:p>
          <a:p>
            <a:pPr marL="914400" lvl="1" indent="-457200">
              <a:buFont typeface="Courier New"/>
              <a:buChar char="o"/>
            </a:pPr>
            <a:r>
              <a:rPr lang="de-DE" sz="2000">
                <a:latin typeface="Times New Roman"/>
                <a:cs typeface="Times New Roman"/>
              </a:rPr>
              <a:t>1 Spielklasse</a:t>
            </a:r>
          </a:p>
          <a:p>
            <a:pPr indent="-457200">
              <a:buFont typeface="Arial,Sans-Serif"/>
              <a:buChar char="•"/>
            </a:pPr>
            <a:r>
              <a:rPr lang="de-DE" sz="2000">
                <a:latin typeface="Times New Roman"/>
                <a:cs typeface="Times New Roman"/>
              </a:rPr>
              <a:t>Häufig vorkommende Methoden: </a:t>
            </a:r>
            <a:r>
              <a:rPr lang="de-DE" sz="2000" err="1">
                <a:latin typeface="Times New Roman"/>
                <a:cs typeface="Times New Roman"/>
              </a:rPr>
              <a:t>karteHinzufuegen</a:t>
            </a:r>
            <a:r>
              <a:rPr lang="de-DE" sz="2000">
                <a:latin typeface="Times New Roman"/>
                <a:cs typeface="Times New Roman"/>
              </a:rPr>
              <a:t>()/ -Entfernen(), </a:t>
            </a:r>
            <a:r>
              <a:rPr lang="de-DE" sz="2000" err="1">
                <a:latin typeface="Times New Roman"/>
                <a:cs typeface="Times New Roman"/>
              </a:rPr>
              <a:t>anzahlKarten</a:t>
            </a:r>
            <a:r>
              <a:rPr lang="de-DE" sz="2000">
                <a:latin typeface="Times New Roman"/>
                <a:cs typeface="Times New Roman"/>
              </a:rPr>
              <a:t>(), </a:t>
            </a:r>
            <a:r>
              <a:rPr lang="de-DE" sz="2000" err="1">
                <a:latin typeface="Times New Roman"/>
                <a:cs typeface="Times New Roman"/>
              </a:rPr>
              <a:t>kannGespieltWerden</a:t>
            </a:r>
            <a:r>
              <a:rPr lang="de-DE" sz="2000">
                <a:latin typeface="Times New Roman"/>
                <a:cs typeface="Times New Roman"/>
              </a:rPr>
              <a:t>()</a:t>
            </a:r>
          </a:p>
          <a:p>
            <a:pPr indent="-457200">
              <a:buFont typeface="Arial,Sans-Serif"/>
              <a:buChar char="•"/>
            </a:pPr>
            <a:r>
              <a:rPr lang="de-DE" sz="2000">
                <a:latin typeface="Times New Roman"/>
                <a:cs typeface="Times New Roman"/>
              </a:rPr>
              <a:t>Häufig vorkommende Attribute: </a:t>
            </a:r>
            <a:r>
              <a:rPr lang="de-DE" sz="2000" err="1">
                <a:latin typeface="Times New Roman"/>
                <a:cs typeface="Times New Roman"/>
              </a:rPr>
              <a:t>stapel</a:t>
            </a:r>
            <a:r>
              <a:rPr lang="de-DE" sz="2000">
                <a:latin typeface="Times New Roman"/>
                <a:cs typeface="Times New Roman"/>
              </a:rPr>
              <a:t> (mit Datentyp von </a:t>
            </a:r>
            <a:r>
              <a:rPr lang="de-DE" sz="2000" err="1">
                <a:latin typeface="Times New Roman"/>
                <a:cs typeface="Times New Roman"/>
              </a:rPr>
              <a:t>UNOKarte</a:t>
            </a:r>
            <a:r>
              <a:rPr lang="de-DE" sz="2000">
                <a:latin typeface="Times New Roman"/>
                <a:cs typeface="Times New Roman"/>
              </a:rPr>
              <a:t> </a:t>
            </a:r>
            <a:r>
              <a:rPr lang="de-DE" sz="2000">
                <a:latin typeface="Times New Roman"/>
                <a:cs typeface="Times New Roman"/>
                <a:sym typeface="Wingdings" panose="05000000000000000000" pitchFamily="2" charset="2"/>
              </a:rPr>
              <a:t> </a:t>
            </a:r>
            <a:r>
              <a:rPr lang="de-DE" sz="2000">
                <a:latin typeface="Times New Roman"/>
                <a:cs typeface="Times New Roman"/>
              </a:rPr>
              <a:t>wert, </a:t>
            </a:r>
            <a:r>
              <a:rPr lang="de-DE" sz="2000" err="1">
                <a:latin typeface="Times New Roman"/>
                <a:cs typeface="Times New Roman"/>
              </a:rPr>
              <a:t>farbe</a:t>
            </a:r>
            <a:r>
              <a:rPr lang="de-DE" sz="2000">
                <a:latin typeface="Times New Roman"/>
                <a:cs typeface="Times New Roman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895562-6B6F-B7C9-887B-141C5FA41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" y="0"/>
            <a:ext cx="7242655" cy="685800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0AA3C1-C0C1-5A34-8ADD-850ED159B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357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2F8BF-D04D-DD08-0DEA-796C497B8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106DE4-C0AA-F971-ED25-5CBE5C0AD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7382"/>
            <a:ext cx="9144000" cy="923235"/>
          </a:xfrm>
        </p:spPr>
        <p:txBody>
          <a:bodyPr>
            <a:normAutofit fontScale="90000"/>
          </a:bodyPr>
          <a:lstStyle/>
          <a:p>
            <a:r>
              <a:rPr lang="de-DE">
                <a:latin typeface="Times New Roman"/>
                <a:cs typeface="Times New Roman"/>
              </a:rPr>
              <a:t>Anwendung der OO-Prinzipien in Programmierung</a:t>
            </a:r>
          </a:p>
        </p:txBody>
      </p:sp>
    </p:spTree>
    <p:extLst>
      <p:ext uri="{BB962C8B-B14F-4D97-AF65-F5344CB8AC3E}">
        <p14:creationId xmlns:p14="http://schemas.microsoft.com/office/powerpoint/2010/main" val="495883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54307-92D8-30F6-E50A-DFE20D0B2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21B349-0248-6350-5B3E-90B460CD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Kapselung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65001D-603A-B33F-4FFB-A3CD17CD8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/>
            <a:r>
              <a:rPr lang="de-DE" err="1">
                <a:latin typeface="Times New Roman"/>
                <a:cs typeface="Times New Roman"/>
              </a:rPr>
              <a:t>name</a:t>
            </a:r>
            <a:r>
              <a:rPr lang="de-DE">
                <a:latin typeface="Times New Roman"/>
                <a:cs typeface="Times New Roman"/>
              </a:rPr>
              <a:t> und </a:t>
            </a:r>
            <a:r>
              <a:rPr lang="de-DE" err="1">
                <a:latin typeface="Times New Roman"/>
                <a:cs typeface="Times New Roman"/>
              </a:rPr>
              <a:t>kartenAufHand</a:t>
            </a:r>
            <a:r>
              <a:rPr lang="de-DE">
                <a:latin typeface="Times New Roman"/>
                <a:cs typeface="Times New Roman"/>
              </a:rPr>
              <a:t> private</a:t>
            </a:r>
          </a:p>
          <a:p>
            <a:pPr marL="514350" indent="-514350"/>
            <a:r>
              <a:rPr lang="de-DE">
                <a:latin typeface="Times New Roman"/>
                <a:cs typeface="Times New Roman"/>
              </a:rPr>
              <a:t>Initialisierung im Konstruktor</a:t>
            </a:r>
          </a:p>
          <a:p>
            <a:pPr marL="514350" indent="-514350"/>
            <a:r>
              <a:rPr lang="de-DE">
                <a:latin typeface="Times New Roman"/>
                <a:cs typeface="Times New Roman"/>
              </a:rPr>
              <a:t>Zugriff über getter</a:t>
            </a:r>
          </a:p>
          <a:p>
            <a:pPr marL="514350" indent="-514350"/>
            <a:endParaRPr lang="de-DE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DB83EA-52A2-D015-A39C-89C61FFC7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736" y="2617659"/>
            <a:ext cx="348615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49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859DA-61C5-2F7B-7ECC-E7803B34B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60635-28BD-D9D9-CEC5-7E685429D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b="1">
                <a:latin typeface="Times New Roman"/>
                <a:cs typeface="Times New Roman"/>
              </a:rPr>
              <a:t>Klasse </a:t>
            </a:r>
            <a:r>
              <a:rPr lang="de-DE" sz="3600" b="1" err="1">
                <a:latin typeface="Times New Roman"/>
                <a:cs typeface="Times New Roman"/>
              </a:rPr>
              <a:t>UNOKarte</a:t>
            </a:r>
            <a:endParaRPr lang="en-US" b="1" err="1">
              <a:latin typeface="Times New Roman"/>
              <a:cs typeface="Times New Roman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EBAE54-B8DB-F6FA-6859-8F27EE421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de-DE">
                <a:latin typeface="Times New Roman"/>
                <a:cs typeface="Times New Roman"/>
              </a:rPr>
              <a:t>Attribute: Farbe, Wert</a:t>
            </a:r>
          </a:p>
          <a:p>
            <a:pPr marL="457200" indent="-457200"/>
            <a:r>
              <a:rPr lang="de-DE">
                <a:latin typeface="Times New Roman"/>
                <a:cs typeface="Times New Roman"/>
              </a:rPr>
              <a:t>Methode: </a:t>
            </a:r>
          </a:p>
          <a:p>
            <a:pPr marL="0" indent="0">
              <a:buNone/>
            </a:pPr>
            <a:r>
              <a:rPr lang="de-DE" err="1">
                <a:latin typeface="Times New Roman"/>
                <a:cs typeface="Times New Roman"/>
              </a:rPr>
              <a:t>kannGespieltWerden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43CD53-96AA-9313-2055-97379BE18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513" y="1389279"/>
            <a:ext cx="5689687" cy="510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46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F0FBE-A0BA-B541-67EB-673243B9D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B40732-0EF5-A2B1-0F7D-E4236BFC3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latin typeface="Times New Roman"/>
                <a:cs typeface="Times New Roman"/>
              </a:rPr>
              <a:t>Vererbung</a:t>
            </a:r>
            <a:endParaRPr lang="de-DE" b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9E8A59-AF1F-F3A2-644D-6BED7ECDA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3600" u="sng">
                <a:latin typeface="Times New Roman"/>
                <a:cs typeface="Times New Roman"/>
              </a:rPr>
              <a:t>Klasse </a:t>
            </a:r>
            <a:r>
              <a:rPr lang="de-DE" sz="3600" u="sng" err="1">
                <a:latin typeface="Times New Roman"/>
                <a:cs typeface="Times New Roman"/>
              </a:rPr>
              <a:t>SpezielleKarte</a:t>
            </a:r>
            <a:endParaRPr lang="de-DE" sz="3600" u="sng">
              <a:latin typeface="Times New Roman"/>
              <a:cs typeface="Times New Roman"/>
            </a:endParaRPr>
          </a:p>
          <a:p>
            <a:pPr>
              <a:buFont typeface="Arial" panose="02110004020202020204"/>
              <a:buChar char="•"/>
            </a:pPr>
            <a:r>
              <a:rPr lang="de-DE">
                <a:latin typeface="Times New Roman"/>
                <a:cs typeface="Times New Roman"/>
              </a:rPr>
              <a:t>Übernimmt Farbe, Wert und</a:t>
            </a:r>
          </a:p>
          <a:p>
            <a:pPr marL="0" indent="0">
              <a:buNone/>
            </a:pPr>
            <a:r>
              <a:rPr lang="de-DE">
                <a:latin typeface="Times New Roman"/>
                <a:cs typeface="Times New Roman"/>
              </a:rPr>
              <a:t>Spielbarkeit</a:t>
            </a:r>
          </a:p>
          <a:p>
            <a:r>
              <a:rPr lang="de-DE">
                <a:latin typeface="Times New Roman"/>
                <a:cs typeface="Times New Roman"/>
              </a:rPr>
              <a:t>Erweiterung mit Attribut</a:t>
            </a:r>
          </a:p>
          <a:p>
            <a:pPr marL="0" indent="0">
              <a:buNone/>
            </a:pPr>
            <a:r>
              <a:rPr lang="de-DE" err="1">
                <a:latin typeface="Times New Roman"/>
                <a:cs typeface="Times New Roman"/>
              </a:rPr>
              <a:t>effektTyp</a:t>
            </a:r>
            <a:endParaRPr lang="de-DE" err="1"/>
          </a:p>
          <a:p>
            <a:r>
              <a:rPr lang="de-DE">
                <a:latin typeface="Times New Roman"/>
                <a:cs typeface="Times New Roman"/>
              </a:rPr>
              <a:t>Methode : effektAnwenden</a:t>
            </a:r>
            <a:endParaRPr lang="de-DE"/>
          </a:p>
          <a:p>
            <a:pPr marL="0" indent="0">
              <a:buNone/>
            </a:pPr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C8580B-4E1F-4B07-7F58-1BD0D6710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689" y="2206734"/>
            <a:ext cx="596265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629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E5185-1495-C132-48C2-124EE3D69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6766F7-B914-3E2A-EF79-F803B8F4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b="1">
                <a:latin typeface="Times New Roman"/>
                <a:cs typeface="Times New Roman"/>
              </a:rPr>
              <a:t>Klasse </a:t>
            </a:r>
            <a:r>
              <a:rPr lang="de-DE" sz="3600" b="1" err="1">
                <a:latin typeface="Times New Roman"/>
                <a:cs typeface="Times New Roman"/>
              </a:rPr>
              <a:t>UNOSpiel</a:t>
            </a:r>
            <a:endParaRPr lang="en-US" b="1" err="1">
              <a:latin typeface="Times New Roman"/>
              <a:cs typeface="Times New Roman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0E6635-6A39-FAAD-991D-B54712A1E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de-DE" sz="3600" u="sng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 b="1"/>
          </a:p>
          <a:p>
            <a:pPr marL="0" indent="0">
              <a:buNone/>
            </a:pPr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BDE112-8359-4B9B-1BDA-D16D9B814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3" y="2469777"/>
            <a:ext cx="4672293" cy="24115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43528A-BE7F-E2A3-CEF3-5E0B6C2AE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50" y="2473698"/>
            <a:ext cx="6373906" cy="332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548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38855-398C-8480-98E6-65E5FDDCF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D7BCE4-6242-A712-4685-14C82B90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>
                <a:latin typeface="Times New Roman"/>
                <a:cs typeface="Times New Roman"/>
              </a:rPr>
              <a:t>Vorteile des Designs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1ECBF-0BF1-70DB-3B25-E6D402FF6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de-DE">
                <a:latin typeface="Times New Roman"/>
                <a:cs typeface="Times New Roman"/>
              </a:rPr>
              <a:t>Karten sind einfach und wiederverwendbar</a:t>
            </a:r>
            <a:endParaRPr lang="de-DE" sz="3600" u="sng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de-DE">
                <a:latin typeface="Times New Roman"/>
                <a:cs typeface="Times New Roman"/>
              </a:rPr>
              <a:t>Das Spiel ist flexibel</a:t>
            </a:r>
            <a:endParaRPr lang="de-DE"/>
          </a:p>
          <a:p>
            <a:pPr>
              <a:buFont typeface="Arial"/>
              <a:buChar char="•"/>
            </a:pPr>
            <a:r>
              <a:rPr lang="de-DE">
                <a:latin typeface="Times New Roman"/>
                <a:cs typeface="Times New Roman"/>
              </a:rPr>
              <a:t>Nutzung von Prinzipien wie:</a:t>
            </a:r>
          </a:p>
          <a:p>
            <a:pPr marL="0" indent="0">
              <a:buNone/>
            </a:pPr>
            <a:r>
              <a:rPr lang="de-DE">
                <a:latin typeface="Times New Roman"/>
                <a:cs typeface="Times New Roman"/>
              </a:rPr>
              <a:t>  - </a:t>
            </a:r>
            <a:r>
              <a:rPr lang="de-DE" sz="2400">
                <a:latin typeface="Times New Roman"/>
                <a:cs typeface="Times New Roman"/>
              </a:rPr>
              <a:t>Kapselung</a:t>
            </a:r>
            <a:endParaRPr lang="de-DE" sz="2400"/>
          </a:p>
          <a:p>
            <a:pPr marL="0" indent="0">
              <a:buNone/>
            </a:pPr>
            <a:r>
              <a:rPr lang="de-DE" sz="2400">
                <a:latin typeface="Times New Roman"/>
                <a:cs typeface="Times New Roman"/>
              </a:rPr>
              <a:t>  - Vererbung</a:t>
            </a:r>
          </a:p>
          <a:p>
            <a:pPr marL="0" indent="0">
              <a:buNone/>
            </a:pPr>
            <a:r>
              <a:rPr lang="de-DE" sz="2400">
                <a:latin typeface="Times New Roman"/>
                <a:cs typeface="Times New Roman"/>
              </a:rPr>
              <a:t>  - Polymorphismus</a:t>
            </a:r>
          </a:p>
          <a:p>
            <a:pPr marL="0" indent="0">
              <a:buNone/>
            </a:pPr>
            <a:r>
              <a:rPr lang="de-DE" sz="2400">
                <a:latin typeface="Times New Roman"/>
                <a:cs typeface="Times New Roman"/>
              </a:rPr>
              <a:t>  - Single </a:t>
            </a:r>
            <a:r>
              <a:rPr lang="de-DE" sz="2400" err="1">
                <a:latin typeface="Times New Roman"/>
                <a:cs typeface="Times New Roman"/>
              </a:rPr>
              <a:t>Responsibility</a:t>
            </a:r>
            <a:endParaRPr lang="de-DE" sz="24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endParaRPr lang="de-DE"/>
          </a:p>
          <a:p>
            <a:pPr marL="0" indent="0">
              <a:buNone/>
            </a:pPr>
            <a:endParaRPr lang="de-DE" b="1"/>
          </a:p>
          <a:p>
            <a:pPr marL="0" indent="0">
              <a:buNone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0032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03324-506E-A9C8-8C71-8384B4B08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A8A87-0762-47DB-0F5B-68DA5DBEA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7382"/>
            <a:ext cx="9144000" cy="923235"/>
          </a:xfrm>
        </p:spPr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Ausblick</a:t>
            </a:r>
          </a:p>
        </p:txBody>
      </p:sp>
    </p:spTree>
    <p:extLst>
      <p:ext uri="{BB962C8B-B14F-4D97-AF65-F5344CB8AC3E}">
        <p14:creationId xmlns:p14="http://schemas.microsoft.com/office/powerpoint/2010/main" val="4135641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39DC6-305B-AAC0-FC03-5E8048600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DFF8DB-CD19-8EBC-B234-A53012E4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Times New Roman"/>
                <a:cs typeface="Times New Roman"/>
              </a:rPr>
              <a:t>Ausblick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BD245D-BDC5-430C-7216-4CFD16CBF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de-DE">
                <a:latin typeface="Times New Roman"/>
                <a:cs typeface="Times New Roman"/>
              </a:rPr>
              <a:t>Spielrelevant:</a:t>
            </a:r>
          </a:p>
          <a:p>
            <a:pPr lvl="1"/>
            <a:r>
              <a:rPr lang="de-DE">
                <a:latin typeface="Times New Roman"/>
                <a:cs typeface="Times New Roman"/>
              </a:rPr>
              <a:t>Erweiterung auf 4 bis 6 Spieler</a:t>
            </a:r>
          </a:p>
          <a:p>
            <a:pPr lvl="1"/>
            <a:r>
              <a:rPr lang="de-DE">
                <a:latin typeface="Times New Roman"/>
                <a:cs typeface="Times New Roman"/>
              </a:rPr>
              <a:t>Verwendung aller möglichen Karten</a:t>
            </a:r>
          </a:p>
          <a:p>
            <a:pPr lvl="1"/>
            <a:r>
              <a:rPr lang="de-DE">
                <a:latin typeface="Times New Roman"/>
                <a:cs typeface="Times New Roman"/>
              </a:rPr>
              <a:t>Spielbare Karten Optimierung</a:t>
            </a:r>
            <a:endParaRPr lang="de-DE"/>
          </a:p>
          <a:p>
            <a:pPr lvl="1"/>
            <a:r>
              <a:rPr lang="de-DE">
                <a:latin typeface="Times New Roman"/>
                <a:cs typeface="Times New Roman"/>
              </a:rPr>
              <a:t>Gegen Computer spielbar</a:t>
            </a:r>
          </a:p>
          <a:p>
            <a:pPr lvl="1"/>
            <a:r>
              <a:rPr lang="de-DE">
                <a:latin typeface="Times New Roman"/>
                <a:cs typeface="Times New Roman"/>
              </a:rPr>
              <a:t>Manuelles Sagen von „UNO“</a:t>
            </a:r>
          </a:p>
          <a:p>
            <a:pPr lvl="1"/>
            <a:r>
              <a:rPr lang="de-DE">
                <a:latin typeface="Times New Roman"/>
                <a:cs typeface="Times New Roman"/>
              </a:rPr>
              <a:t>Ablagestapel mischen und als Ziehstapel wiederverwenden</a:t>
            </a:r>
            <a:endParaRPr lang="de-DE"/>
          </a:p>
          <a:p>
            <a:pPr lvl="1"/>
            <a:endParaRPr lang="de-DE">
              <a:latin typeface="Times New Roman"/>
              <a:cs typeface="Times New Roman"/>
            </a:endParaRPr>
          </a:p>
          <a:p>
            <a:r>
              <a:rPr lang="de-DE">
                <a:latin typeface="Times New Roman"/>
                <a:cs typeface="Times New Roman"/>
              </a:rPr>
              <a:t>Programmierung:</a:t>
            </a:r>
          </a:p>
          <a:p>
            <a:pPr lvl="1"/>
            <a:r>
              <a:rPr lang="de-DE">
                <a:latin typeface="Times New Roman"/>
                <a:cs typeface="Times New Roman"/>
              </a:rPr>
              <a:t>Umprogrammierung auf Kompositummuster für Übersichtlichkeit + Vermeidung von wiederholten Attributen und Methoden</a:t>
            </a:r>
          </a:p>
          <a:p>
            <a:pPr lvl="1"/>
            <a:r>
              <a:rPr lang="de-DE">
                <a:latin typeface="Times New Roman"/>
                <a:cs typeface="Times New Roman"/>
              </a:rPr>
              <a:t>GUI für bessere Spielerfahrung</a:t>
            </a:r>
          </a:p>
          <a:p>
            <a:pPr lvl="1"/>
            <a:endParaRPr lang="de-DE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7681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7D4618-6CB5-B489-13DA-AA3625C11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765" y="2761560"/>
            <a:ext cx="9212470" cy="1325563"/>
          </a:xfrm>
        </p:spPr>
        <p:txBody>
          <a:bodyPr>
            <a:normAutofit fontScale="90000"/>
          </a:bodyPr>
          <a:lstStyle/>
          <a:p>
            <a:r>
              <a:rPr lang="fr-FR" sz="5400" err="1">
                <a:latin typeface="Times New Roman"/>
                <a:cs typeface="Times New Roman"/>
              </a:rPr>
              <a:t>Danke</a:t>
            </a:r>
            <a:r>
              <a:rPr lang="fr-FR" sz="5400">
                <a:latin typeface="Times New Roman"/>
                <a:cs typeface="Times New Roman"/>
              </a:rPr>
              <a:t> </a:t>
            </a:r>
            <a:r>
              <a:rPr lang="fr-FR" sz="5400" err="1">
                <a:latin typeface="Times New Roman"/>
                <a:cs typeface="Times New Roman"/>
              </a:rPr>
              <a:t>für</a:t>
            </a:r>
            <a:r>
              <a:rPr lang="fr-FR" sz="5400">
                <a:latin typeface="Times New Roman"/>
                <a:cs typeface="Times New Roman"/>
              </a:rPr>
              <a:t> </a:t>
            </a:r>
            <a:r>
              <a:rPr lang="fr-FR" sz="5400" err="1">
                <a:latin typeface="Times New Roman"/>
                <a:cs typeface="Times New Roman"/>
              </a:rPr>
              <a:t>eure</a:t>
            </a:r>
            <a:r>
              <a:rPr lang="fr-FR" sz="5400">
                <a:latin typeface="Times New Roman"/>
                <a:cs typeface="Times New Roman"/>
              </a:rPr>
              <a:t> </a:t>
            </a:r>
            <a:r>
              <a:rPr lang="fr-FR" sz="5400" err="1">
                <a:latin typeface="Times New Roman"/>
                <a:cs typeface="Times New Roman"/>
              </a:rPr>
              <a:t>Aufmerksamkeit</a:t>
            </a:r>
            <a:r>
              <a:rPr lang="fr-FR" sz="5400">
                <a:latin typeface="Times New Roman"/>
                <a:cs typeface="Times New Roman"/>
              </a:rPr>
              <a:t>!</a:t>
            </a:r>
            <a:endParaRPr lang="fr-FR" sz="5400"/>
          </a:p>
        </p:txBody>
      </p:sp>
    </p:spTree>
    <p:extLst>
      <p:ext uri="{BB962C8B-B14F-4D97-AF65-F5344CB8AC3E}">
        <p14:creationId xmlns:p14="http://schemas.microsoft.com/office/powerpoint/2010/main" val="29297743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Breitbild</PresentationFormat>
  <Paragraphs>88</Paragraphs>
  <Slides>27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3" baseType="lpstr">
      <vt:lpstr>Aptos</vt:lpstr>
      <vt:lpstr>Arial</vt:lpstr>
      <vt:lpstr>Arial,Sans-Serif</vt:lpstr>
      <vt:lpstr>Courier New</vt:lpstr>
      <vt:lpstr>Times New Roman</vt:lpstr>
      <vt:lpstr>Thème Office</vt:lpstr>
      <vt:lpstr>UNO</vt:lpstr>
      <vt:lpstr>Inhaltsverzeichnis</vt:lpstr>
      <vt:lpstr>Spielabgrenzung</vt:lpstr>
      <vt:lpstr>Spielabgrenzung</vt:lpstr>
      <vt:lpstr>Spielabgrenzung</vt:lpstr>
      <vt:lpstr>Spielabgrenzung</vt:lpstr>
      <vt:lpstr>Spielablauf</vt:lpstr>
      <vt:lpstr>Spielablauf</vt:lpstr>
      <vt:lpstr>Spielablauf</vt:lpstr>
      <vt:lpstr>Spielablauf</vt:lpstr>
      <vt:lpstr>Spielablauf</vt:lpstr>
      <vt:lpstr>Spielablauf</vt:lpstr>
      <vt:lpstr>Spielablauf</vt:lpstr>
      <vt:lpstr>Spielablauf</vt:lpstr>
      <vt:lpstr>Spielablauf</vt:lpstr>
      <vt:lpstr>Falsche Eingaben</vt:lpstr>
      <vt:lpstr>UML-Diagramm</vt:lpstr>
      <vt:lpstr>PowerPoint-Präsentation</vt:lpstr>
      <vt:lpstr>Anwendung der OO-Prinzipien in Programmierung</vt:lpstr>
      <vt:lpstr>Kapselung</vt:lpstr>
      <vt:lpstr>Klasse UNOKarte</vt:lpstr>
      <vt:lpstr>Vererbung</vt:lpstr>
      <vt:lpstr>Klasse UNOSpiel</vt:lpstr>
      <vt:lpstr>Vorteile des Designs</vt:lpstr>
      <vt:lpstr>Ausblick</vt:lpstr>
      <vt:lpstr>Ausblick</vt:lpstr>
      <vt:lpstr>Danke für eure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Issam Belfakir</dc:creator>
  <cp:lastModifiedBy>Moritz Breuer</cp:lastModifiedBy>
  <cp:revision>10</cp:revision>
  <dcterms:created xsi:type="dcterms:W3CDTF">2025-12-07T12:25:48Z</dcterms:created>
  <dcterms:modified xsi:type="dcterms:W3CDTF">2026-01-19T09:11:07Z</dcterms:modified>
</cp:coreProperties>
</file>